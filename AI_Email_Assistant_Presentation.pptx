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4" d="100"/>
          <a:sy n="144" d="100"/>
        </p:scale>
        <p:origin x="2280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9144000" cy="5486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dirty="0"/>
              <a:t>AI-Powered Email Assistant</a:t>
            </a:r>
          </a:p>
          <a:p>
            <a:pPr>
              <a:spcBef>
                <a:spcPts val="400"/>
              </a:spcBef>
              <a:defRPr sz="2000" b="0">
                <a:solidFill>
                  <a:srgbClr val="BBBBBB"/>
                </a:solidFill>
              </a:defRPr>
            </a:pPr>
            <a:r>
              <a:rPr dirty="0"/>
              <a:t>Multi-Agent Pipeline with </a:t>
            </a:r>
            <a:r>
              <a:rPr dirty="0" err="1"/>
              <a:t>LangGraph</a:t>
            </a:r>
            <a:r>
              <a:rPr dirty="0"/>
              <a:t>, </a:t>
            </a:r>
            <a:r>
              <a:rPr dirty="0" err="1"/>
              <a:t>Streamlit</a:t>
            </a:r>
            <a:r>
              <a:rPr dirty="0"/>
              <a:t> &amp; </a:t>
            </a:r>
            <a:r>
              <a:rPr dirty="0" err="1"/>
              <a:t>Pydantic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680960" cy="1436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</a:defRPr>
            </a:pPr>
            <a:r>
              <a:rPr dirty="0"/>
              <a:t>IK Agentic AI for SWEs - Capstone Project</a:t>
            </a:r>
            <a:r>
              <a:rPr lang="en-US" dirty="0"/>
              <a:t> 1</a:t>
            </a:r>
            <a:endParaRPr dirty="0"/>
          </a:p>
          <a:p>
            <a:pPr>
              <a:spcBef>
                <a:spcPts val="400"/>
              </a:spcBef>
              <a:defRPr sz="1400" b="0">
                <a:solidFill>
                  <a:srgbClr val="666666"/>
                </a:solidFill>
              </a:defRPr>
            </a:pPr>
            <a:r>
              <a:rPr dirty="0"/>
              <a:t>Applied Agentic AI for Software Engineers</a:t>
            </a:r>
            <a:endParaRPr lang="en-US" dirty="0"/>
          </a:p>
          <a:p>
            <a:pPr>
              <a:spcBef>
                <a:spcPts val="400"/>
              </a:spcBef>
              <a:defRPr sz="1400" b="0">
                <a:solidFill>
                  <a:srgbClr val="666666"/>
                </a:solidFill>
              </a:defRPr>
            </a:pPr>
            <a:endParaRPr lang="en-US" dirty="0"/>
          </a:p>
          <a:p>
            <a:pPr>
              <a:spcBef>
                <a:spcPts val="400"/>
              </a:spcBef>
              <a:defRPr sz="1400" b="0">
                <a:solidFill>
                  <a:srgbClr val="666666"/>
                </a:solidFill>
              </a:defRPr>
            </a:pPr>
            <a:r>
              <a:rPr lang="en-US" dirty="0">
                <a:solidFill>
                  <a:srgbClr val="999999"/>
                </a:solidFill>
              </a:rPr>
              <a:t>By Dushyant Bansal</a:t>
            </a:r>
          </a:p>
          <a:p>
            <a:pPr>
              <a:spcBef>
                <a:spcPts val="400"/>
              </a:spcBef>
              <a:defRPr sz="1400" b="0">
                <a:solidFill>
                  <a:srgbClr val="666666"/>
                </a:solidFill>
              </a:defRPr>
            </a:pPr>
            <a:r>
              <a:rPr lang="en-US" dirty="0">
                <a:solidFill>
                  <a:srgbClr val="999999"/>
                </a:solidFill>
              </a:rPr>
              <a:t>March 1, 2026</a:t>
            </a:r>
            <a:endParaRPr dirty="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Problem Statement &amp; Business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3657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</a:defRPr>
            </a:pPr>
            <a:r>
              <a:rPr dirty="0"/>
              <a:t>The Problem</a:t>
            </a:r>
          </a:p>
          <a:p>
            <a:pPr>
              <a:spcBef>
                <a:spcPts val="400"/>
              </a:spcBef>
              <a:defRPr sz="1600" b="0">
                <a:solidFill>
                  <a:srgbClr val="2D2D2D"/>
                </a:solidFill>
              </a:defRPr>
            </a:pPr>
            <a:r>
              <a:rPr dirty="0"/>
              <a:t>Professionals spend 15-20 min per email drafting</a:t>
            </a:r>
          </a:p>
          <a:p>
            <a:pPr>
              <a:spcBef>
                <a:spcPts val="400"/>
              </a:spcBef>
              <a:defRPr sz="1600" b="0">
                <a:solidFill>
                  <a:srgbClr val="2D2D2D"/>
                </a:solidFill>
              </a:defRPr>
            </a:pPr>
            <a:r>
              <a:rPr dirty="0"/>
              <a:t>Inconsistent tone, formatting, and quality across teams</a:t>
            </a:r>
          </a:p>
          <a:p>
            <a:pPr>
              <a:spcBef>
                <a:spcPts val="400"/>
              </a:spcBef>
              <a:defRPr sz="1600" b="0">
                <a:solidFill>
                  <a:srgbClr val="2D2D2D"/>
                </a:solidFill>
              </a:defRPr>
            </a:pPr>
            <a:r>
              <a:rPr dirty="0"/>
              <a:t>No context awareness between related emails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2000" b="1">
                <a:solidFill>
                  <a:srgbClr val="00966E"/>
                </a:solidFill>
              </a:defRPr>
            </a:pPr>
            <a:r>
              <a:rPr dirty="0"/>
              <a:t>The Opportunity</a:t>
            </a:r>
          </a:p>
          <a:p>
            <a:pPr>
              <a:spcBef>
                <a:spcPts val="400"/>
              </a:spcBef>
              <a:defRPr sz="1600" b="0">
                <a:solidFill>
                  <a:srgbClr val="2D2D2D"/>
                </a:solidFill>
              </a:defRPr>
            </a:pPr>
            <a:r>
              <a:rPr dirty="0"/>
              <a:t>Reduce drafting time to under 2 minutes</a:t>
            </a:r>
          </a:p>
          <a:p>
            <a:pPr>
              <a:spcBef>
                <a:spcPts val="400"/>
              </a:spcBef>
              <a:defRPr sz="1600" b="0">
                <a:solidFill>
                  <a:srgbClr val="2D2D2D"/>
                </a:solidFill>
              </a:defRPr>
            </a:pPr>
            <a:r>
              <a:rPr dirty="0"/>
              <a:t>Context-aware writing tailored to recipient and situation</a:t>
            </a:r>
          </a:p>
          <a:p>
            <a:pPr>
              <a:spcBef>
                <a:spcPts val="400"/>
              </a:spcBef>
              <a:defRPr sz="1600" b="0">
                <a:solidFill>
                  <a:srgbClr val="2D2D2D"/>
                </a:solidFill>
              </a:defRPr>
            </a:pPr>
            <a:r>
              <a:rPr dirty="0"/>
              <a:t>Multi-purpose: outreach, follow-ups, apologies, internal updates</a:t>
            </a:r>
          </a:p>
          <a:p>
            <a:pPr>
              <a:spcBef>
                <a:spcPts val="400"/>
              </a:spcBef>
              <a:defRPr sz="1600" b="0">
                <a:solidFill>
                  <a:srgbClr val="2D2D2D"/>
                </a:solidFill>
              </a:defRPr>
            </a:pPr>
            <a:r>
              <a:rPr dirty="0"/>
              <a:t>Consistent, on-brand communication </a:t>
            </a:r>
            <a:r>
              <a:rPr lang="en-US" dirty="0"/>
              <a:t>for your business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Agentic AI Principles Applied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3657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636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1">
                <a:solidFill>
                  <a:srgbClr val="007ACC"/>
                </a:solidFill>
              </a:defRPr>
            </a:pPr>
            <a:r>
              <a:rPr dirty="0"/>
              <a:t>Modular Agent Decomposition</a:t>
            </a:r>
          </a:p>
          <a:p>
            <a:pPr>
              <a:spcBef>
                <a:spcPts val="200"/>
              </a:spcBef>
              <a:defRPr sz="1300">
                <a:solidFill>
                  <a:srgbClr val="2D2D2D"/>
                </a:solidFill>
              </a:defRPr>
            </a:pPr>
            <a:r>
              <a:rPr dirty="0"/>
              <a:t>Each task (parse, classify, tone, draft, personalize, review, route) is a dedicated agent with a single responsibility.</a:t>
            </a:r>
          </a:p>
          <a:p>
            <a:pPr>
              <a:spcBef>
                <a:spcPts val="800"/>
              </a:spcBef>
              <a:defRPr sz="1600" b="1">
                <a:solidFill>
                  <a:srgbClr val="007ACC"/>
                </a:solidFill>
              </a:defRPr>
            </a:pPr>
            <a:r>
              <a:rPr dirty="0"/>
              <a:t>Structured State Management</a:t>
            </a:r>
          </a:p>
          <a:p>
            <a:pPr>
              <a:spcBef>
                <a:spcPts val="200"/>
              </a:spcBef>
              <a:defRPr sz="1300">
                <a:solidFill>
                  <a:srgbClr val="2D2D2D"/>
                </a:solidFill>
              </a:defRPr>
            </a:pPr>
            <a:r>
              <a:rPr dirty="0" err="1"/>
              <a:t>Pydantic</a:t>
            </a:r>
            <a:r>
              <a:rPr dirty="0"/>
              <a:t>-validated </a:t>
            </a:r>
            <a:r>
              <a:rPr dirty="0" err="1"/>
              <a:t>TypedDict</a:t>
            </a:r>
            <a:r>
              <a:rPr dirty="0"/>
              <a:t> flows through the graph; agents read and return typed partial updates.</a:t>
            </a:r>
          </a:p>
          <a:p>
            <a:pPr>
              <a:spcBef>
                <a:spcPts val="800"/>
              </a:spcBef>
              <a:defRPr sz="1600" b="1">
                <a:solidFill>
                  <a:srgbClr val="007ACC"/>
                </a:solidFill>
              </a:defRPr>
            </a:pPr>
            <a:r>
              <a:rPr dirty="0"/>
              <a:t>Orchestrated Collaboration</a:t>
            </a:r>
          </a:p>
          <a:p>
            <a:pPr>
              <a:spcBef>
                <a:spcPts val="200"/>
              </a:spcBef>
              <a:defRPr sz="1300">
                <a:solidFill>
                  <a:srgbClr val="2D2D2D"/>
                </a:solidFill>
              </a:defRPr>
            </a:pPr>
            <a:r>
              <a:rPr dirty="0" err="1"/>
              <a:t>LangGraph</a:t>
            </a:r>
            <a:r>
              <a:rPr dirty="0"/>
              <a:t> wires agents into a directed graph with sequential edges and conditional retry loops.</a:t>
            </a:r>
          </a:p>
          <a:p>
            <a:pPr>
              <a:spcBef>
                <a:spcPts val="800"/>
              </a:spcBef>
              <a:defRPr sz="1600" b="1">
                <a:solidFill>
                  <a:srgbClr val="007ACC"/>
                </a:solidFill>
              </a:defRPr>
            </a:pPr>
            <a:r>
              <a:rPr lang="en-US" dirty="0"/>
              <a:t>Structured LLM contract</a:t>
            </a:r>
            <a:endParaRPr dirty="0"/>
          </a:p>
          <a:p>
            <a:pPr>
              <a:spcBef>
                <a:spcPts val="200"/>
              </a:spcBef>
              <a:defRPr sz="1300">
                <a:solidFill>
                  <a:srgbClr val="2D2D2D"/>
                </a:solidFill>
              </a:defRPr>
            </a:pPr>
            <a:r>
              <a:rPr dirty="0"/>
              <a:t>Agents use LLM structured output (</a:t>
            </a:r>
            <a:r>
              <a:rPr dirty="0" err="1"/>
              <a:t>with_structured_output</a:t>
            </a:r>
            <a:r>
              <a:rPr dirty="0"/>
              <a:t>) for reliable </a:t>
            </a:r>
            <a:r>
              <a:rPr dirty="0" err="1"/>
              <a:t>Pydantic</a:t>
            </a:r>
            <a:r>
              <a:rPr dirty="0"/>
              <a:t>-based parsing.</a:t>
            </a:r>
          </a:p>
          <a:p>
            <a:pPr>
              <a:spcBef>
                <a:spcPts val="800"/>
              </a:spcBef>
              <a:defRPr sz="1600" b="1">
                <a:solidFill>
                  <a:srgbClr val="007ACC"/>
                </a:solidFill>
              </a:defRPr>
            </a:pPr>
            <a:r>
              <a:rPr dirty="0"/>
              <a:t>Memory &amp; Personalization</a:t>
            </a:r>
          </a:p>
          <a:p>
            <a:pPr>
              <a:spcBef>
                <a:spcPts val="200"/>
              </a:spcBef>
              <a:defRPr sz="1300">
                <a:solidFill>
                  <a:srgbClr val="2D2D2D"/>
                </a:solidFill>
              </a:defRPr>
            </a:pPr>
            <a:r>
              <a:rPr dirty="0"/>
              <a:t>Conversation history persists across sessions; the Draft Writer uses recent turns as context.</a:t>
            </a:r>
          </a:p>
          <a:p>
            <a:pPr>
              <a:spcBef>
                <a:spcPts val="800"/>
              </a:spcBef>
              <a:defRPr sz="1600" b="1">
                <a:solidFill>
                  <a:srgbClr val="007ACC"/>
                </a:solidFill>
              </a:defRPr>
            </a:pPr>
            <a:r>
              <a:rPr dirty="0"/>
              <a:t>Human-in-the-Loop</a:t>
            </a:r>
          </a:p>
          <a:p>
            <a:pPr>
              <a:spcBef>
                <a:spcPts val="200"/>
              </a:spcBef>
              <a:defRPr sz="1300">
                <a:solidFill>
                  <a:srgbClr val="2D2D2D"/>
                </a:solidFill>
              </a:defRPr>
            </a:pPr>
            <a:r>
              <a:rPr dirty="0" err="1"/>
              <a:t>Streamlit</a:t>
            </a:r>
            <a:r>
              <a:rPr dirty="0"/>
              <a:t> UI lets users edit drafts, override tone/intent, and manage their profile before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3657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8CAFCD-F7C4-0197-EEE6-B261B80A8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692393"/>
              </p:ext>
            </p:extLst>
          </p:nvPr>
        </p:nvGraphicFramePr>
        <p:xfrm>
          <a:off x="780110" y="1235235"/>
          <a:ext cx="7771959" cy="485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653">
                  <a:extLst>
                    <a:ext uri="{9D8B030D-6E8A-4147-A177-3AD203B41FA5}">
                      <a16:colId xmlns:a16="http://schemas.microsoft.com/office/drawing/2014/main" val="4063423005"/>
                    </a:ext>
                  </a:extLst>
                </a:gridCol>
                <a:gridCol w="2590653">
                  <a:extLst>
                    <a:ext uri="{9D8B030D-6E8A-4147-A177-3AD203B41FA5}">
                      <a16:colId xmlns:a16="http://schemas.microsoft.com/office/drawing/2014/main" val="3898208278"/>
                    </a:ext>
                  </a:extLst>
                </a:gridCol>
                <a:gridCol w="2590653">
                  <a:extLst>
                    <a:ext uri="{9D8B030D-6E8A-4147-A177-3AD203B41FA5}">
                      <a16:colId xmlns:a16="http://schemas.microsoft.com/office/drawing/2014/main" val="24607265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265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Multi‑Agent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LangGraph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Modular task‑specific agent orchestration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212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Language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GPT‑4o‑mini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Language understanding and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3589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Email Template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LangChain</a:t>
                      </a:r>
                      <a:r>
                        <a:rPr lang="en-US" dirty="0">
                          <a:effectLst/>
                        </a:rPr>
                        <a:t> + Function Calling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Tone, length, and formatting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10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User Profile Store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JSON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Preferences and prior context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6325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Web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Streamlit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Compose, edit, and export emails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374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Memory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LangGraph</a:t>
                      </a:r>
                      <a:r>
                        <a:rPr lang="en-US" dirty="0">
                          <a:effectLst/>
                        </a:rPr>
                        <a:t> + JSON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Remembers user tone and previous drafts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4073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Control Plane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config/</a:t>
                      </a:r>
                      <a:r>
                        <a:rPr lang="en-US" dirty="0" err="1">
                          <a:effectLst/>
                        </a:rPr>
                        <a:t>mcp.yaml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Model selection and routing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13292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Agent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3657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011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1">
                <a:solidFill>
                  <a:srgbClr val="007ACC"/>
                </a:solidFill>
              </a:defRPr>
            </a:pPr>
            <a:r>
              <a:rPr dirty="0"/>
              <a:t>1. Input Parser</a:t>
            </a:r>
          </a:p>
          <a:p>
            <a:pPr>
              <a:spcBef>
                <a:spcPts val="200"/>
              </a:spcBef>
              <a:defRPr sz="1300">
                <a:solidFill>
                  <a:srgbClr val="2D2D2D"/>
                </a:solidFill>
              </a:defRPr>
            </a:pPr>
            <a:r>
              <a:rPr dirty="0"/>
              <a:t>Validates prompt, extracts recipient, tone, constraints via LLM structured output</a:t>
            </a:r>
          </a:p>
          <a:p>
            <a:pPr>
              <a:spcBef>
                <a:spcPts val="800"/>
              </a:spcBef>
              <a:defRPr sz="1600" b="1">
                <a:solidFill>
                  <a:srgbClr val="007ACC"/>
                </a:solidFill>
              </a:defRPr>
            </a:pPr>
            <a:r>
              <a:rPr dirty="0"/>
              <a:t>2. Intent Detection</a:t>
            </a:r>
          </a:p>
          <a:p>
            <a:pPr>
              <a:spcBef>
                <a:spcPts val="200"/>
              </a:spcBef>
              <a:defRPr sz="1300">
                <a:solidFill>
                  <a:srgbClr val="2D2D2D"/>
                </a:solidFill>
              </a:defRPr>
            </a:pPr>
            <a:r>
              <a:rPr dirty="0"/>
              <a:t>Classifies intent: outreach, follow-up, apology, info request, internal update</a:t>
            </a:r>
          </a:p>
          <a:p>
            <a:pPr>
              <a:spcBef>
                <a:spcPts val="800"/>
              </a:spcBef>
              <a:defRPr sz="1600" b="1">
                <a:solidFill>
                  <a:srgbClr val="007ACC"/>
                </a:solidFill>
              </a:defRPr>
            </a:pPr>
            <a:r>
              <a:rPr dirty="0"/>
              <a:t>3. Tone Stylist</a:t>
            </a:r>
          </a:p>
          <a:p>
            <a:pPr>
              <a:spcBef>
                <a:spcPts val="200"/>
              </a:spcBef>
              <a:defRPr sz="1300">
                <a:solidFill>
                  <a:srgbClr val="2D2D2D"/>
                </a:solidFill>
              </a:defRPr>
            </a:pPr>
            <a:r>
              <a:rPr dirty="0"/>
              <a:t>Maps tone to prompt snippets; loads examples from </a:t>
            </a:r>
            <a:r>
              <a:rPr dirty="0" err="1"/>
              <a:t>tone_samples</a:t>
            </a:r>
            <a:r>
              <a:rPr lang="en-US" dirty="0"/>
              <a:t> (</a:t>
            </a:r>
            <a:r>
              <a:rPr lang="en-US" b="1" dirty="0"/>
              <a:t>few shot prompting</a:t>
            </a:r>
            <a:r>
              <a:rPr lang="en-US" dirty="0"/>
              <a:t>)</a:t>
            </a:r>
            <a:endParaRPr dirty="0"/>
          </a:p>
          <a:p>
            <a:pPr>
              <a:spcBef>
                <a:spcPts val="800"/>
              </a:spcBef>
              <a:defRPr sz="1600" b="1">
                <a:solidFill>
                  <a:srgbClr val="007ACC"/>
                </a:solidFill>
              </a:defRPr>
            </a:pPr>
            <a:r>
              <a:rPr dirty="0"/>
              <a:t>4. Draft Writer</a:t>
            </a:r>
          </a:p>
          <a:p>
            <a:pPr>
              <a:spcBef>
                <a:spcPts val="200"/>
              </a:spcBef>
              <a:defRPr sz="1300">
                <a:solidFill>
                  <a:srgbClr val="2D2D2D"/>
                </a:solidFill>
              </a:defRPr>
            </a:pPr>
            <a:r>
              <a:rPr dirty="0"/>
              <a:t>Generates subject + body using tone context and conversation history</a:t>
            </a:r>
          </a:p>
          <a:p>
            <a:pPr>
              <a:spcBef>
                <a:spcPts val="800"/>
              </a:spcBef>
              <a:defRPr sz="1600" b="1">
                <a:solidFill>
                  <a:srgbClr val="007ACC"/>
                </a:solidFill>
              </a:defRPr>
            </a:pPr>
            <a:r>
              <a:rPr dirty="0"/>
              <a:t>5. Personalization</a:t>
            </a:r>
          </a:p>
          <a:p>
            <a:pPr>
              <a:spcBef>
                <a:spcPts val="200"/>
              </a:spcBef>
              <a:defRPr sz="1300">
                <a:solidFill>
                  <a:srgbClr val="2D2D2D"/>
                </a:solidFill>
              </a:defRPr>
            </a:pPr>
            <a:r>
              <a:rPr dirty="0"/>
              <a:t>Injects username, company, signature; strips LLM placeholders</a:t>
            </a:r>
          </a:p>
          <a:p>
            <a:pPr>
              <a:spcBef>
                <a:spcPts val="800"/>
              </a:spcBef>
              <a:defRPr sz="1600" b="1">
                <a:solidFill>
                  <a:srgbClr val="007ACC"/>
                </a:solidFill>
              </a:defRPr>
            </a:pPr>
            <a:r>
              <a:rPr dirty="0"/>
              <a:t>6. Review &amp; Validator</a:t>
            </a:r>
          </a:p>
          <a:p>
            <a:pPr>
              <a:spcBef>
                <a:spcPts val="200"/>
              </a:spcBef>
              <a:defRPr sz="1300">
                <a:solidFill>
                  <a:srgbClr val="2D2D2D"/>
                </a:solidFill>
              </a:defRPr>
            </a:pPr>
            <a:r>
              <a:rPr dirty="0"/>
              <a:t>Checks grammar, tone alignment, coherence; flags issues</a:t>
            </a:r>
          </a:p>
          <a:p>
            <a:pPr>
              <a:spcBef>
                <a:spcPts val="800"/>
              </a:spcBef>
              <a:defRPr sz="1600" b="1">
                <a:solidFill>
                  <a:srgbClr val="007ACC"/>
                </a:solidFill>
              </a:defRPr>
            </a:pPr>
            <a:r>
              <a:rPr dirty="0"/>
              <a:t>7. Router &amp; Memory</a:t>
            </a:r>
          </a:p>
          <a:p>
            <a:pPr>
              <a:spcBef>
                <a:spcPts val="200"/>
              </a:spcBef>
              <a:defRPr sz="1300">
                <a:solidFill>
                  <a:srgbClr val="2D2D2D"/>
                </a:solidFill>
              </a:defRPr>
            </a:pPr>
            <a:r>
              <a:rPr dirty="0"/>
              <a:t>Logs to memory, decides retry (up to 2x) or finalizes draft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LangGraph Orchestration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3657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</a:defRPr>
            </a:pPr>
            <a:r>
              <a:rPr dirty="0"/>
              <a:t>Why </a:t>
            </a:r>
            <a:r>
              <a:rPr dirty="0" err="1"/>
              <a:t>LangGraph</a:t>
            </a:r>
            <a:r>
              <a:rPr dirty="0"/>
              <a:t>?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/>
              <a:t>Directed graph with typed state (</a:t>
            </a:r>
            <a:r>
              <a:rPr dirty="0" err="1"/>
              <a:t>TypedDict</a:t>
            </a:r>
            <a:r>
              <a:rPr dirty="0"/>
              <a:t> + </a:t>
            </a:r>
            <a:r>
              <a:rPr dirty="0" err="1"/>
              <a:t>Pydantic</a:t>
            </a:r>
            <a:r>
              <a:rPr dirty="0"/>
              <a:t>)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/>
              <a:t>Conditional edges enable retry loops (Router -&gt; Draft Writer)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/>
              <a:t>In-memory </a:t>
            </a:r>
            <a:r>
              <a:rPr dirty="0" err="1"/>
              <a:t>checkpointer</a:t>
            </a:r>
            <a:r>
              <a:rPr dirty="0"/>
              <a:t> for debugging and state inspection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2000" b="1">
                <a:solidFill>
                  <a:srgbClr val="007ACC"/>
                </a:solidFill>
              </a:defRPr>
            </a:pPr>
            <a:r>
              <a:rPr dirty="0"/>
              <a:t>Graph Structure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/>
              <a:t>7 nodes (one per agent class), 7 sequential edges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/>
              <a:t>1 conditional edge: Router -&gt; Draft Writer (if review fails, </a:t>
            </a:r>
            <a:r>
              <a:rPr dirty="0" err="1"/>
              <a:t>retry_count</a:t>
            </a:r>
            <a:r>
              <a:rPr dirty="0"/>
              <a:t> &lt; 2)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/>
              <a:t>1 conditional edge: Router -&gt; END (if review passes or retries exhausted)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2000" b="1">
                <a:solidFill>
                  <a:srgbClr val="007ACC"/>
                </a:solidFill>
              </a:defRPr>
            </a:pPr>
            <a:r>
              <a:rPr dirty="0"/>
              <a:t>State Flow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/>
              <a:t>Each node reads shared state, returns partial </a:t>
            </a:r>
            <a:r>
              <a:rPr dirty="0" err="1"/>
              <a:t>dict</a:t>
            </a:r>
            <a:r>
              <a:rPr dirty="0"/>
              <a:t> updates</a:t>
            </a:r>
          </a:p>
          <a:p>
            <a:pPr>
              <a:spcBef>
                <a:spcPts val="400"/>
              </a:spcBef>
              <a:defRPr sz="1400" b="0">
                <a:solidFill>
                  <a:srgbClr val="666666"/>
                </a:solidFill>
              </a:defRPr>
            </a:pPr>
            <a:r>
              <a:rPr dirty="0"/>
              <a:t>State keys: </a:t>
            </a:r>
            <a:r>
              <a:rPr dirty="0" err="1"/>
              <a:t>parsed_input</a:t>
            </a:r>
            <a:r>
              <a:rPr dirty="0"/>
              <a:t>, intent, </a:t>
            </a:r>
            <a:r>
              <a:rPr dirty="0" err="1"/>
              <a:t>tone_context</a:t>
            </a:r>
            <a:r>
              <a:rPr dirty="0"/>
              <a:t>, draft, </a:t>
            </a:r>
            <a:r>
              <a:rPr dirty="0" err="1"/>
              <a:t>personalized_draft</a:t>
            </a:r>
            <a:r>
              <a:rPr dirty="0"/>
              <a:t>, </a:t>
            </a:r>
            <a:r>
              <a:rPr dirty="0" err="1"/>
              <a:t>review_result</a:t>
            </a:r>
            <a:r>
              <a:rPr dirty="0"/>
              <a:t>, errors, </a:t>
            </a:r>
            <a:r>
              <a:rPr dirty="0" err="1"/>
              <a:t>retry_count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Memory &amp; Personalization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3657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067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</a:defRPr>
            </a:pPr>
            <a:r>
              <a:rPr dirty="0"/>
              <a:t>Conversation Memory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/>
              <a:t>Each email generation is logged as a </a:t>
            </a:r>
            <a:r>
              <a:rPr dirty="0" err="1"/>
              <a:t>ConversationTurn</a:t>
            </a:r>
            <a:r>
              <a:rPr dirty="0"/>
              <a:t> (prompt, subject, body, intent, tone)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/>
              <a:t>Last 10 turns stored per user in </a:t>
            </a:r>
            <a:r>
              <a:rPr dirty="0" err="1"/>
              <a:t>user_profiles.json</a:t>
            </a:r>
            <a:endParaRPr dirty="0"/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/>
              <a:t>Draft Writer injects last 3 turns as context for style consistency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/>
              <a:t>Users can clear history to start fresh via UI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2000" b="1">
                <a:solidFill>
                  <a:srgbClr val="007ACC"/>
                </a:solidFill>
              </a:defRPr>
            </a:pPr>
            <a:r>
              <a:rPr dirty="0"/>
              <a:t>User Profiles (</a:t>
            </a:r>
            <a:r>
              <a:rPr dirty="0" err="1"/>
              <a:t>Pydantic</a:t>
            </a:r>
            <a:r>
              <a:rPr dirty="0"/>
              <a:t>-backed)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/>
              <a:t>Name, company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/>
              <a:t>Prior draft summaries (last 20)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/>
              <a:t>Personalization Agent uses profile to inject name/signature and replace placeholders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2000" b="1">
                <a:solidFill>
                  <a:srgbClr val="007ACC"/>
                </a:solidFill>
              </a:defRPr>
            </a:pPr>
            <a:r>
              <a:rPr dirty="0"/>
              <a:t>Placeholder Safety Net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/>
              <a:t>Draft Writer prompt includes sender name + explicit no-placeholder instruction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/>
              <a:t>Personalization Agent strips [Your Name], [Sender Name], etc. as fallback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Evaluation &amp;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3657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657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6E"/>
                </a:solidFill>
              </a:defRPr>
            </a:pPr>
            <a:r>
              <a:rPr dirty="0"/>
              <a:t>Unit Tests (37 tests, no API calls)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/>
              <a:t>test_schemas.py: All </a:t>
            </a:r>
            <a:r>
              <a:rPr dirty="0" err="1"/>
              <a:t>Pydantic</a:t>
            </a:r>
            <a:r>
              <a:rPr dirty="0"/>
              <a:t> models, </a:t>
            </a:r>
            <a:r>
              <a:rPr dirty="0" err="1"/>
              <a:t>enums</a:t>
            </a:r>
            <a:r>
              <a:rPr dirty="0"/>
              <a:t>, validation, JSON round-trips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/>
              <a:t>test_profile_store.py: Save/load/append/clear with temp JSON fixture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/>
              <a:t>test_tone_stylist.py: Tone context generation for all 5 tones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/>
              <a:t>test_personalization.py: Name/signature, placeholder stripping, company injection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2000" b="1">
                <a:solidFill>
                  <a:srgbClr val="E86C00"/>
                </a:solidFill>
              </a:defRPr>
            </a:pPr>
            <a:r>
              <a:rPr dirty="0"/>
              <a:t>LLM-as-a-Judge Evaluation (6 tests, uses API)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/>
              <a:t>5 tone tests: generate email per tone, judge verifies match via structured output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/>
              <a:t>1 consistency test: same prompt with formal vs casual, judge confirms tones differ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 err="1"/>
              <a:t>ToneJudgment</a:t>
            </a:r>
            <a:r>
              <a:rPr dirty="0"/>
              <a:t> schema: </a:t>
            </a:r>
            <a:r>
              <a:rPr dirty="0" err="1"/>
              <a:t>matches_requested_tone</a:t>
            </a:r>
            <a:r>
              <a:rPr dirty="0"/>
              <a:t>, </a:t>
            </a:r>
            <a:r>
              <a:rPr dirty="0" err="1"/>
              <a:t>detected_tone</a:t>
            </a:r>
            <a:r>
              <a:rPr dirty="0"/>
              <a:t>, confidence, reasoning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dirty="0"/>
              <a:t>Auto-skips when OPENAI_API_KEY not set (CI-safe)</a:t>
            </a:r>
            <a:endParaRPr lang="en-US" dirty="0"/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endParaRPr lang="en-US" dirty="0"/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lang="en-US" sz="2000" b="1" dirty="0">
                <a:solidFill>
                  <a:schemeClr val="accent1"/>
                </a:solidFill>
              </a:rPr>
              <a:t>LLM Assisted Code Changes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lang="en-US" dirty="0"/>
              <a:t>Reviewed the code to identify missing classes for some agents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rPr lang="en-US" dirty="0"/>
              <a:t>Manual testing revealed issues with replacing placeholders. Asked LLM to fix code and add more test cases.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Streamlit UI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3657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</a:defRPr>
            </a:pPr>
            <a:r>
              <a:t>Sidebar Controls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t>Tone selector (5 options)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t>Intent override dropdown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t>Recipient field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t>User ID for personalization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t>Profile management (name, company)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t>Clear conversation history button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</a:defRPr>
            </a:pPr>
            <a:r>
              <a:t>Main Area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t>Prompt text area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t>Generate Email button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t>Editable subject + body preview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t>Export as TXT download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2000" b="1">
                <a:solidFill>
                  <a:srgbClr val="007ACC"/>
                </a:solidFill>
              </a:defRPr>
            </a:pPr>
            <a:r>
              <a:t>Design Principles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t>Human-in-the-loop editing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t>Session state persistence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</a:defRPr>
            </a:pPr>
            <a:r>
              <a:t>Real-time feedback (errors, warnings)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Key Design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3657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 b="1">
                <a:solidFill>
                  <a:srgbClr val="007ACC"/>
                </a:solidFill>
              </a:defRPr>
            </a:pPr>
            <a:r>
              <a:t>LangGraph over pure LangChain</a:t>
            </a:r>
          </a:p>
          <a:p>
            <a:pPr>
              <a:spcBef>
                <a:spcPts val="100"/>
              </a:spcBef>
              <a:defRPr sz="1300">
                <a:solidFill>
                  <a:srgbClr val="2D2D2D"/>
                </a:solidFill>
              </a:defRPr>
            </a:pPr>
            <a:r>
              <a:t>Built-in state management, conditional edges, retry loops, and checkpointing</a:t>
            </a:r>
          </a:p>
          <a:p>
            <a:pPr>
              <a:spcBef>
                <a:spcPts val="600"/>
              </a:spcBef>
              <a:defRPr sz="1500" b="1">
                <a:solidFill>
                  <a:srgbClr val="007ACC"/>
                </a:solidFill>
              </a:defRPr>
            </a:pPr>
            <a:r>
              <a:t>Pydantic for all agent I/O</a:t>
            </a:r>
          </a:p>
          <a:p>
            <a:pPr>
              <a:spcBef>
                <a:spcPts val="100"/>
              </a:spcBef>
              <a:defRPr sz="1300">
                <a:solidFill>
                  <a:srgbClr val="2D2D2D"/>
                </a:solidFill>
              </a:defRPr>
            </a:pPr>
            <a:r>
              <a:t>Structured validation, schema-driven prompts, type safety across the pipeline</a:t>
            </a:r>
          </a:p>
          <a:p>
            <a:pPr>
              <a:spcBef>
                <a:spcPts val="600"/>
              </a:spcBef>
              <a:defRPr sz="1500" b="1">
                <a:solidFill>
                  <a:srgbClr val="007ACC"/>
                </a:solidFill>
              </a:defRPr>
            </a:pPr>
            <a:r>
              <a:t>Class-based agents</a:t>
            </a:r>
          </a:p>
          <a:p>
            <a:pPr>
              <a:spcBef>
                <a:spcPts val="100"/>
              </a:spcBef>
              <a:defRPr sz="1300">
                <a:solidFill>
                  <a:srgbClr val="2D2D2D"/>
                </a:solidFill>
              </a:defRPr>
            </a:pPr>
            <a:r>
              <a:t>Consistent pattern across all 7 agents; each exposes run(state) -&gt; dict</a:t>
            </a:r>
          </a:p>
          <a:p>
            <a:pPr>
              <a:spcBef>
                <a:spcPts val="600"/>
              </a:spcBef>
              <a:defRPr sz="1500" b="1">
                <a:solidFill>
                  <a:srgbClr val="007ACC"/>
                </a:solidFill>
              </a:defRPr>
            </a:pPr>
            <a:r>
              <a:t>JSON user profiles</a:t>
            </a:r>
          </a:p>
          <a:p>
            <a:pPr>
              <a:spcBef>
                <a:spcPts val="100"/>
              </a:spcBef>
              <a:defRPr sz="1300">
                <a:solidFill>
                  <a:srgbClr val="2D2D2D"/>
                </a:solidFill>
              </a:defRPr>
            </a:pPr>
            <a:r>
              <a:t>Simple, spec-compliant; easily swappable to MongoDB or Postgres</a:t>
            </a:r>
          </a:p>
          <a:p>
            <a:pPr>
              <a:spcBef>
                <a:spcPts val="600"/>
              </a:spcBef>
              <a:defRPr sz="1500" b="1">
                <a:solidFill>
                  <a:srgbClr val="007ACC"/>
                </a:solidFill>
              </a:defRPr>
            </a:pPr>
            <a:r>
              <a:t>LLM structured output</a:t>
            </a:r>
          </a:p>
          <a:p>
            <a:pPr>
              <a:spcBef>
                <a:spcPts val="100"/>
              </a:spcBef>
              <a:defRPr sz="1300">
                <a:solidFill>
                  <a:srgbClr val="2D2D2D"/>
                </a:solidFill>
              </a:defRPr>
            </a:pPr>
            <a:r>
              <a:t>with_structured_output() for reliable parsing and classification</a:t>
            </a:r>
          </a:p>
          <a:p>
            <a:pPr>
              <a:spcBef>
                <a:spcPts val="600"/>
              </a:spcBef>
              <a:defRPr sz="1500" b="1">
                <a:solidFill>
                  <a:srgbClr val="007ACC"/>
                </a:solidFill>
              </a:defRPr>
            </a:pPr>
            <a:r>
              <a:t>Conversation memory</a:t>
            </a:r>
          </a:p>
          <a:p>
            <a:pPr>
              <a:spcBef>
                <a:spcPts val="100"/>
              </a:spcBef>
              <a:defRPr sz="1300">
                <a:solidFill>
                  <a:srgbClr val="2D2D2D"/>
                </a:solidFill>
              </a:defRPr>
            </a:pPr>
            <a:r>
              <a:t>Last 10 turns persisted per user; last 3 injected as draft context</a:t>
            </a:r>
          </a:p>
          <a:p>
            <a:pPr>
              <a:spcBef>
                <a:spcPts val="600"/>
              </a:spcBef>
              <a:defRPr sz="1500" b="1">
                <a:solidFill>
                  <a:srgbClr val="007ACC"/>
                </a:solidFill>
              </a:defRPr>
            </a:pPr>
            <a:r>
              <a:t>LLM-as-a-Judge evaluation</a:t>
            </a:r>
          </a:p>
          <a:p>
            <a:pPr>
              <a:spcBef>
                <a:spcPts val="100"/>
              </a:spcBef>
              <a:defRPr sz="1300">
                <a:solidFill>
                  <a:srgbClr val="2D2D2D"/>
                </a:solidFill>
              </a:defRPr>
            </a:pPr>
            <a:r>
              <a:t>Automated tone verification using a second LLM call with Pydantic schema</a:t>
            </a:r>
          </a:p>
          <a:p>
            <a:pPr>
              <a:spcBef>
                <a:spcPts val="600"/>
              </a:spcBef>
              <a:defRPr sz="1500" b="1">
                <a:solidFill>
                  <a:srgbClr val="007ACC"/>
                </a:solidFill>
              </a:defRPr>
            </a:pPr>
            <a:r>
              <a:t>MCP config (mcp.yaml)</a:t>
            </a:r>
          </a:p>
          <a:p>
            <a:pPr>
              <a:spcBef>
                <a:spcPts val="100"/>
              </a:spcBef>
              <a:defRPr sz="1300">
                <a:solidFill>
                  <a:srgbClr val="2D2D2D"/>
                </a:solidFill>
              </a:defRPr>
            </a:pPr>
            <a:r>
              <a:t>Primary/fallback model routing; max_retries for review loop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9144000" cy="5486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</a:defRPr>
            </a:pPr>
            <a:r>
              <a:t>Run it yourself:</a:t>
            </a:r>
          </a:p>
          <a:p>
            <a:pPr>
              <a:spcBef>
                <a:spcPts val="400"/>
              </a:spcBef>
              <a:defRPr sz="1600" b="0">
                <a:solidFill>
                  <a:srgbClr val="BBBBBB"/>
                </a:solidFill>
              </a:defRPr>
            </a:pPr>
            <a:r>
              <a:t>pip install -r requirements.txt</a:t>
            </a:r>
          </a:p>
          <a:p>
            <a:pPr>
              <a:spcBef>
                <a:spcPts val="400"/>
              </a:spcBef>
              <a:defRPr sz="1600" b="0">
                <a:solidFill>
                  <a:srgbClr val="BBBBBB"/>
                </a:solidFill>
              </a:defRPr>
            </a:pPr>
            <a:r>
              <a:t>streamlit run email_assistant/src/ui/streamlit_app.py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4332</TotalTime>
  <Words>1049</Words>
  <Application>Microsoft Office PowerPoint</Application>
  <PresentationFormat>On-screen Show (4:3)</PresentationFormat>
  <Paragraphs>157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Dushyant Bansal</cp:lastModifiedBy>
  <cp:revision>16</cp:revision>
  <dcterms:created xsi:type="dcterms:W3CDTF">2013-01-27T09:14:16Z</dcterms:created>
  <dcterms:modified xsi:type="dcterms:W3CDTF">2026-03-03T06:49:59Z</dcterms:modified>
  <cp:category/>
</cp:coreProperties>
</file>